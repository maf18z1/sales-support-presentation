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884339"/>
            <a:ext cx="9445523" cy="3208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999">
                <a:solidFill>
                  <a:srgbClr val="CBCCCE"/>
                </a:solidFill>
                <a:latin typeface="Instrument Sans SemiBold" pitchFamily="2" charset="0"/>
                <a:ea typeface="Instrument Serif"/>
                <a:cs typeface="Instrument Serif"/>
                <a:sym typeface="Instrument Serif"/>
              </a:rPr>
              <a:t>Excel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к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мобильному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приложению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: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что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реально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изменит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управление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999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продажами</a:t>
            </a: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4380309"/>
            <a:ext cx="9445523" cy="83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Разработка клиент-серверного мобильного приложения системы поддержки продаж продукции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45476" y="5466759"/>
            <a:ext cx="4617396" cy="2238527"/>
            <a:chOff x="0" y="0"/>
            <a:chExt cx="6156528" cy="29847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56579" cy="2984754"/>
            </a:xfrm>
            <a:custGeom>
              <a:avLst/>
              <a:gdLst/>
              <a:ahLst/>
              <a:cxnLst/>
              <a:rect l="l" t="t" r="r" b="b"/>
              <a:pathLst>
                <a:path w="6156579" h="2984754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6013069" y="0"/>
                  </a:lnTo>
                  <a:cubicBezTo>
                    <a:pt x="6092317" y="0"/>
                    <a:pt x="6156579" y="64262"/>
                    <a:pt x="6156579" y="143510"/>
                  </a:cubicBezTo>
                  <a:lnTo>
                    <a:pt x="6156579" y="2841244"/>
                  </a:lnTo>
                  <a:cubicBezTo>
                    <a:pt x="6156579" y="2920492"/>
                    <a:pt x="6092317" y="2984754"/>
                    <a:pt x="6013069" y="2984754"/>
                  </a:cubicBezTo>
                  <a:lnTo>
                    <a:pt x="143510" y="2984754"/>
                  </a:lnTo>
                  <a:cubicBezTo>
                    <a:pt x="64262" y="2984754"/>
                    <a:pt x="0" y="2920492"/>
                    <a:pt x="0" y="2841244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8114852" y="5717086"/>
            <a:ext cx="3274219" cy="4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Представил к защите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682985" y="5466759"/>
            <a:ext cx="4617539" cy="2238527"/>
            <a:chOff x="0" y="0"/>
            <a:chExt cx="6156719" cy="29847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56706" cy="2984754"/>
            </a:xfrm>
            <a:custGeom>
              <a:avLst/>
              <a:gdLst/>
              <a:ahLst/>
              <a:cxnLst/>
              <a:rect l="l" t="t" r="r" b="b"/>
              <a:pathLst>
                <a:path w="6156706" h="2984754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6013196" y="0"/>
                  </a:lnTo>
                  <a:cubicBezTo>
                    <a:pt x="6092444" y="0"/>
                    <a:pt x="6156706" y="64262"/>
                    <a:pt x="6156706" y="143510"/>
                  </a:cubicBezTo>
                  <a:lnTo>
                    <a:pt x="6156706" y="2841244"/>
                  </a:lnTo>
                  <a:cubicBezTo>
                    <a:pt x="6156706" y="2920492"/>
                    <a:pt x="6092444" y="2984754"/>
                    <a:pt x="6013196" y="2984754"/>
                  </a:cubicBezTo>
                  <a:lnTo>
                    <a:pt x="143510" y="2984754"/>
                  </a:lnTo>
                  <a:cubicBezTo>
                    <a:pt x="64262" y="2984754"/>
                    <a:pt x="0" y="2920492"/>
                    <a:pt x="0" y="2841244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952362" y="5717086"/>
            <a:ext cx="3189684" cy="4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Организация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52362" y="6215215"/>
            <a:ext cx="4078786" cy="122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РТУ МИРЭА, Институт информационных технологий (ИИТ)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845476" y="7925391"/>
            <a:ext cx="9455048" cy="1462830"/>
            <a:chOff x="0" y="0"/>
            <a:chExt cx="12606731" cy="19504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606782" cy="1950466"/>
            </a:xfrm>
            <a:custGeom>
              <a:avLst/>
              <a:gdLst/>
              <a:ahLst/>
              <a:cxnLst/>
              <a:rect l="l" t="t" r="r" b="b"/>
              <a:pathLst>
                <a:path w="12606782" h="1950466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12462891" y="0"/>
                  </a:lnTo>
                  <a:cubicBezTo>
                    <a:pt x="12542393" y="0"/>
                    <a:pt x="12606782" y="64389"/>
                    <a:pt x="12606782" y="143891"/>
                  </a:cubicBezTo>
                  <a:lnTo>
                    <a:pt x="12606782" y="1806575"/>
                  </a:lnTo>
                  <a:cubicBezTo>
                    <a:pt x="12606782" y="1886077"/>
                    <a:pt x="12542393" y="1950466"/>
                    <a:pt x="12462891" y="1950466"/>
                  </a:cubicBezTo>
                  <a:lnTo>
                    <a:pt x="143891" y="1950466"/>
                  </a:lnTo>
                  <a:cubicBezTo>
                    <a:pt x="64389" y="1950466"/>
                    <a:pt x="0" y="1886077"/>
                    <a:pt x="0" y="1806575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114852" y="8175727"/>
            <a:ext cx="3189684" cy="4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Год защиты</a:t>
            </a:r>
          </a:p>
        </p:txBody>
      </p:sp>
      <p:sp>
        <p:nvSpPr>
          <p:cNvPr id="23" name="Text 4"/>
          <p:cNvSpPr/>
          <p:nvPr/>
        </p:nvSpPr>
        <p:spPr>
          <a:xfrm>
            <a:off x="8114852" y="6354767"/>
            <a:ext cx="3581400" cy="1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b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Чекалов Алексей Владиславович</a:t>
            </a:r>
            <a:endParaRPr lang="en-US"/>
          </a:p>
          <a:p>
            <a:pPr marL="0" indent="0" algn="l">
              <a:lnSpc>
                <a:spcPct val="127000"/>
              </a:lnSpc>
              <a:buNone/>
            </a:pP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Студент группы ИКБО-62-23</a:t>
            </a:r>
            <a:endParaRPr lang="en-US"/>
          </a:p>
        </p:txBody>
      </p:sp>
      <p:sp>
        <p:nvSpPr>
          <p:cNvPr id="24" name="Text 10"/>
          <p:cNvSpPr/>
          <p:nvPr/>
        </p:nvSpPr>
        <p:spPr>
          <a:xfrm>
            <a:off x="8114852" y="8798174"/>
            <a:ext cx="4851081" cy="385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00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Москва, 2026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75557"/>
            <a:ext cx="12304071" cy="77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Актуальность и предпосылки создания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865637"/>
            <a:ext cx="7857830" cy="2352523"/>
            <a:chOff x="0" y="0"/>
            <a:chExt cx="10477106" cy="3136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77119" cy="3136773"/>
            </a:xfrm>
            <a:custGeom>
              <a:avLst/>
              <a:gdLst/>
              <a:ahLst/>
              <a:cxnLst/>
              <a:rect l="l" t="t" r="r" b="b"/>
              <a:pathLst>
                <a:path w="10477119" h="3136773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10342118" y="0"/>
                  </a:lnTo>
                  <a:cubicBezTo>
                    <a:pt x="10416667" y="0"/>
                    <a:pt x="10477119" y="60452"/>
                    <a:pt x="10477119" y="135001"/>
                  </a:cubicBezTo>
                  <a:lnTo>
                    <a:pt x="10477119" y="3001772"/>
                  </a:lnTo>
                  <a:cubicBezTo>
                    <a:pt x="10477119" y="3076321"/>
                    <a:pt x="10416667" y="3136773"/>
                    <a:pt x="10342118" y="3136773"/>
                  </a:cubicBezTo>
                  <a:lnTo>
                    <a:pt x="135001" y="3136773"/>
                  </a:lnTo>
                  <a:cubicBezTo>
                    <a:pt x="60452" y="3136646"/>
                    <a:pt x="0" y="3076321"/>
                    <a:pt x="0" y="3001772"/>
                  </a:cubicBezTo>
                  <a:close/>
                </a:path>
              </a:pathLst>
            </a:custGeom>
            <a:solidFill>
              <a:srgbClr val="4B3F0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3192" y="5222529"/>
            <a:ext cx="301228" cy="240954"/>
            <a:chOff x="0" y="0"/>
            <a:chExt cx="401638" cy="32127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01574" cy="321310"/>
            </a:xfrm>
            <a:custGeom>
              <a:avLst/>
              <a:gdLst/>
              <a:ahLst/>
              <a:cxnLst/>
              <a:rect l="l" t="t" r="r" b="b"/>
              <a:pathLst>
                <a:path w="401574" h="321310">
                  <a:moveTo>
                    <a:pt x="0" y="0"/>
                  </a:moveTo>
                  <a:lnTo>
                    <a:pt x="401574" y="0"/>
                  </a:lnTo>
                  <a:lnTo>
                    <a:pt x="401574" y="321310"/>
                  </a:lnTo>
                  <a:lnTo>
                    <a:pt x="0" y="32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92" r="-1211" b="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87476" y="7674169"/>
            <a:ext cx="3931739" cy="1722987"/>
            <a:chOff x="0" y="0"/>
            <a:chExt cx="5242319" cy="22973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42433" cy="2297430"/>
            </a:xfrm>
            <a:custGeom>
              <a:avLst/>
              <a:gdLst/>
              <a:ahLst/>
              <a:cxnLst/>
              <a:rect l="l" t="t" r="r" b="b"/>
              <a:pathLst>
                <a:path w="5242433" h="2297430">
                  <a:moveTo>
                    <a:pt x="0" y="135763"/>
                  </a:moveTo>
                  <a:cubicBezTo>
                    <a:pt x="0" y="60706"/>
                    <a:pt x="60706" y="0"/>
                    <a:pt x="135763" y="0"/>
                  </a:cubicBezTo>
                  <a:lnTo>
                    <a:pt x="5106670" y="0"/>
                  </a:lnTo>
                  <a:cubicBezTo>
                    <a:pt x="5181600" y="0"/>
                    <a:pt x="5242433" y="60706"/>
                    <a:pt x="5242433" y="135763"/>
                  </a:cubicBezTo>
                  <a:lnTo>
                    <a:pt x="5242433" y="2161667"/>
                  </a:lnTo>
                  <a:cubicBezTo>
                    <a:pt x="5242433" y="2236597"/>
                    <a:pt x="5181727" y="2297430"/>
                    <a:pt x="5106670" y="2297430"/>
                  </a:cubicBezTo>
                  <a:lnTo>
                    <a:pt x="135763" y="2297430"/>
                  </a:lnTo>
                  <a:cubicBezTo>
                    <a:pt x="60706" y="2297303"/>
                    <a:pt x="0" y="2236597"/>
                    <a:pt x="0" y="2161667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42717" y="7919885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44,1 </a:t>
            </a:r>
            <a:r>
              <a:rPr lang="en-US" sz="23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млрд</a:t>
            </a:r>
            <a:r>
              <a:rPr lang="en-US" sz="23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2717" y="8381105"/>
            <a:ext cx="3421256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Рынок CRM в России в 2025 году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114477" y="7674169"/>
            <a:ext cx="3931891" cy="1722987"/>
            <a:chOff x="0" y="0"/>
            <a:chExt cx="5242522" cy="229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42560" cy="2297430"/>
            </a:xfrm>
            <a:custGeom>
              <a:avLst/>
              <a:gdLst/>
              <a:ahLst/>
              <a:cxnLst/>
              <a:rect l="l" t="t" r="r" b="b"/>
              <a:pathLst>
                <a:path w="5242560" h="2297430">
                  <a:moveTo>
                    <a:pt x="0" y="135763"/>
                  </a:moveTo>
                  <a:cubicBezTo>
                    <a:pt x="0" y="60706"/>
                    <a:pt x="60706" y="0"/>
                    <a:pt x="135763" y="0"/>
                  </a:cubicBezTo>
                  <a:lnTo>
                    <a:pt x="5106797" y="0"/>
                  </a:lnTo>
                  <a:cubicBezTo>
                    <a:pt x="5181727" y="0"/>
                    <a:pt x="5242560" y="60706"/>
                    <a:pt x="5242560" y="135763"/>
                  </a:cubicBezTo>
                  <a:lnTo>
                    <a:pt x="5242560" y="2161667"/>
                  </a:lnTo>
                  <a:cubicBezTo>
                    <a:pt x="5242560" y="2236597"/>
                    <a:pt x="5181854" y="2297430"/>
                    <a:pt x="5106797" y="2297430"/>
                  </a:cubicBezTo>
                  <a:lnTo>
                    <a:pt x="135763" y="2297430"/>
                  </a:lnTo>
                  <a:cubicBezTo>
                    <a:pt x="60706" y="2297303"/>
                    <a:pt x="0" y="2236597"/>
                    <a:pt x="0" y="2161667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5369719" y="7919885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+25%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69719" y="8381105"/>
            <a:ext cx="3421409" cy="40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Рост рынка CRM за год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41631" y="7674169"/>
            <a:ext cx="3931739" cy="1722987"/>
            <a:chOff x="0" y="0"/>
            <a:chExt cx="5242319" cy="22973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42433" cy="2297430"/>
            </a:xfrm>
            <a:custGeom>
              <a:avLst/>
              <a:gdLst/>
              <a:ahLst/>
              <a:cxnLst/>
              <a:rect l="l" t="t" r="r" b="b"/>
              <a:pathLst>
                <a:path w="5242433" h="2297430">
                  <a:moveTo>
                    <a:pt x="0" y="135763"/>
                  </a:moveTo>
                  <a:cubicBezTo>
                    <a:pt x="0" y="60706"/>
                    <a:pt x="60706" y="0"/>
                    <a:pt x="135763" y="0"/>
                  </a:cubicBezTo>
                  <a:lnTo>
                    <a:pt x="5106670" y="0"/>
                  </a:lnTo>
                  <a:cubicBezTo>
                    <a:pt x="5181600" y="0"/>
                    <a:pt x="5242433" y="60706"/>
                    <a:pt x="5242433" y="135763"/>
                  </a:cubicBezTo>
                  <a:lnTo>
                    <a:pt x="5242433" y="2161667"/>
                  </a:lnTo>
                  <a:cubicBezTo>
                    <a:pt x="5242433" y="2236597"/>
                    <a:pt x="5181727" y="2297430"/>
                    <a:pt x="5106670" y="2297430"/>
                  </a:cubicBezTo>
                  <a:lnTo>
                    <a:pt x="135763" y="2297430"/>
                  </a:lnTo>
                  <a:cubicBezTo>
                    <a:pt x="60706" y="2297303"/>
                    <a:pt x="0" y="2236597"/>
                    <a:pt x="0" y="2161667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9496873" y="7919885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18,8%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96873" y="8381105"/>
            <a:ext cx="3421256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Доля интернет-торговли в рознице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368633" y="7674169"/>
            <a:ext cx="3931891" cy="1722987"/>
            <a:chOff x="0" y="0"/>
            <a:chExt cx="5242522" cy="22973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42560" cy="2297430"/>
            </a:xfrm>
            <a:custGeom>
              <a:avLst/>
              <a:gdLst/>
              <a:ahLst/>
              <a:cxnLst/>
              <a:rect l="l" t="t" r="r" b="b"/>
              <a:pathLst>
                <a:path w="5242560" h="2297430">
                  <a:moveTo>
                    <a:pt x="0" y="135763"/>
                  </a:moveTo>
                  <a:cubicBezTo>
                    <a:pt x="0" y="60706"/>
                    <a:pt x="60706" y="0"/>
                    <a:pt x="135763" y="0"/>
                  </a:cubicBezTo>
                  <a:lnTo>
                    <a:pt x="5106797" y="0"/>
                  </a:lnTo>
                  <a:cubicBezTo>
                    <a:pt x="5181727" y="0"/>
                    <a:pt x="5242560" y="60706"/>
                    <a:pt x="5242560" y="135763"/>
                  </a:cubicBezTo>
                  <a:lnTo>
                    <a:pt x="5242560" y="2161667"/>
                  </a:lnTo>
                  <a:cubicBezTo>
                    <a:pt x="5242560" y="2236597"/>
                    <a:pt x="5181854" y="2297430"/>
                    <a:pt x="5106797" y="2297430"/>
                  </a:cubicBezTo>
                  <a:lnTo>
                    <a:pt x="135763" y="2297430"/>
                  </a:lnTo>
                  <a:cubicBezTo>
                    <a:pt x="60706" y="2297303"/>
                    <a:pt x="0" y="2236597"/>
                    <a:pt x="0" y="2161667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3623874" y="7919885"/>
            <a:ext cx="3012434" cy="3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+28%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23874" y="8381105"/>
            <a:ext cx="3421409" cy="40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Рост объёма онлайн-продаж</a:t>
            </a:r>
          </a:p>
        </p:txBody>
      </p:sp>
      <p:sp>
        <p:nvSpPr>
          <p:cNvPr id="30" name="Text 3"/>
          <p:cNvSpPr/>
          <p:nvPr/>
        </p:nvSpPr>
        <p:spPr>
          <a:xfrm>
            <a:off x="1991528" y="5124744"/>
            <a:ext cx="5855543" cy="187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Без оперативного доступа к актуальным данным компании продолжают терять до </a:t>
            </a:r>
            <a:r>
              <a:rPr lang="en-US" b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15–20% оборота</a:t>
            </a:r>
            <a:r>
              <a:rPr lang="en-US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из-за просроченной продукции, сталкиваются с дефицитом или затовариванием, а также с ошибками при сборке заказов и снижением лояльности клиентов.</a:t>
            </a:r>
            <a:endParaRPr lang="en-US"/>
          </a:p>
        </p:txBody>
      </p:sp>
      <p:sp>
        <p:nvSpPr>
          <p:cNvPr id="31" name="Text 1"/>
          <p:cNvSpPr/>
          <p:nvPr/>
        </p:nvSpPr>
        <p:spPr>
          <a:xfrm>
            <a:off x="1185562" y="1968424"/>
            <a:ext cx="7664515" cy="2441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Несмотря на стремительный рост автоматизации, многие предприятия розничной торговли до сих пор управляют складом и заказами вручную, используя разрозненные таблицы и устаревшие локальные системы. По данным TAdviser, российский рынок CRM в 2025 году достиг </a:t>
            </a:r>
            <a:r>
              <a:rPr lang="en-US" b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44,1 млрд рублей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увеличившись на 25%. Доля интернет-торговли в рознице выросла до </a:t>
            </a:r>
            <a:r>
              <a:rPr lang="en-US" b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18,8%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а объём онлайн-продаж за год прибавил </a:t>
            </a:r>
            <a:r>
              <a:rPr lang="en-US" b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28%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/>
          </a:p>
        </p:txBody>
      </p:sp>
      <p:sp>
        <p:nvSpPr>
          <p:cNvPr id="32" name="Text 4"/>
          <p:cNvSpPr/>
          <p:nvPr/>
        </p:nvSpPr>
        <p:spPr>
          <a:xfrm>
            <a:off x="9241631" y="1988341"/>
            <a:ext cx="8058921" cy="1859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 современную эпоху предприятия всё чаще стремятся уменьшить затраты рабочей силы и получить доступ к управлению ключевыми процессами (склад, клиенты, закупки) с мобильного устройства, которое всегда под рукой – в любом месте, в любое время. Именно это стремление и стало основной причиной создания нашего мобильного приложения.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93852"/>
            <a:ext cx="16072990" cy="81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Сравнительный анализ существующих решений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1627" y="2477691"/>
            <a:ext cx="3189684" cy="4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Yuma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1627" y="3067793"/>
            <a:ext cx="4310062" cy="238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мощный складской учёт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детализированный контроль себестоимости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сложность для малого бизнеса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практически нет мобильной работы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56669" y="2477691"/>
            <a:ext cx="3189684" cy="4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Quick Resto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6669" y="3067793"/>
            <a:ext cx="4479284" cy="238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удобный интерфейс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интеграция с платёжными системами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плохой учёт сроков годности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нет модуля управления поставками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20933" y="2477691"/>
            <a:ext cx="3189684" cy="4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Starter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0933" y="3067793"/>
            <a:ext cx="4310062" cy="2772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удобная работа с клиентской базой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простой старт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отсутствие учёта сроков годности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нет мобильности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ограниченная аналитика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3285" y="3124943"/>
            <a:ext cx="303647" cy="298666"/>
            <a:chOff x="0" y="0"/>
            <a:chExt cx="404863" cy="398221"/>
          </a:xfrm>
        </p:grpSpPr>
        <p:sp>
          <p:nvSpPr>
            <p:cNvPr id="14" name="Freeform 14" descr="Check Mark Box Green - Free vector graphic on Pixabay"/>
            <p:cNvSpPr/>
            <p:nvPr/>
          </p:nvSpPr>
          <p:spPr>
            <a:xfrm>
              <a:off x="0" y="0"/>
              <a:ext cx="404876" cy="398272"/>
            </a:xfrm>
            <a:custGeom>
              <a:avLst/>
              <a:gdLst/>
              <a:ahLst/>
              <a:cxnLst/>
              <a:rect l="l" t="t" r="r" b="b"/>
              <a:pathLst>
                <a:path w="404876" h="398272">
                  <a:moveTo>
                    <a:pt x="0" y="0"/>
                  </a:moveTo>
                  <a:lnTo>
                    <a:pt x="404876" y="0"/>
                  </a:lnTo>
                  <a:lnTo>
                    <a:pt x="404876" y="398272"/>
                  </a:lnTo>
                  <a:lnTo>
                    <a:pt x="0" y="39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1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81532" y="4329713"/>
            <a:ext cx="305391" cy="305391"/>
            <a:chOff x="0" y="0"/>
            <a:chExt cx="407187" cy="407187"/>
          </a:xfrm>
        </p:grpSpPr>
        <p:sp>
          <p:nvSpPr>
            <p:cNvPr id="16" name="Freeform 16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992238" y="3536423"/>
            <a:ext cx="303647" cy="298666"/>
            <a:chOff x="0" y="0"/>
            <a:chExt cx="404863" cy="398221"/>
          </a:xfrm>
        </p:grpSpPr>
        <p:sp>
          <p:nvSpPr>
            <p:cNvPr id="18" name="Freeform 18" descr="Check Mark Box Green - Free vector graphic on Pixabay"/>
            <p:cNvSpPr/>
            <p:nvPr/>
          </p:nvSpPr>
          <p:spPr>
            <a:xfrm>
              <a:off x="0" y="0"/>
              <a:ext cx="404876" cy="398272"/>
            </a:xfrm>
            <a:custGeom>
              <a:avLst/>
              <a:gdLst/>
              <a:ahLst/>
              <a:cxnLst/>
              <a:rect l="l" t="t" r="r" b="b"/>
              <a:pathLst>
                <a:path w="404876" h="398272">
                  <a:moveTo>
                    <a:pt x="0" y="0"/>
                  </a:moveTo>
                  <a:lnTo>
                    <a:pt x="404876" y="0"/>
                  </a:lnTo>
                  <a:lnTo>
                    <a:pt x="404876" y="398272"/>
                  </a:lnTo>
                  <a:lnTo>
                    <a:pt x="0" y="39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12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80942" y="4741193"/>
            <a:ext cx="305391" cy="305391"/>
            <a:chOff x="0" y="0"/>
            <a:chExt cx="407187" cy="407187"/>
          </a:xfrm>
        </p:grpSpPr>
        <p:sp>
          <p:nvSpPr>
            <p:cNvPr id="20" name="Freeform 20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542837" y="3131077"/>
            <a:ext cx="303647" cy="298666"/>
            <a:chOff x="0" y="0"/>
            <a:chExt cx="404863" cy="398221"/>
          </a:xfrm>
        </p:grpSpPr>
        <p:sp>
          <p:nvSpPr>
            <p:cNvPr id="22" name="Freeform 22" descr="Check Mark Box Green - Free vector graphic on Pixabay"/>
            <p:cNvSpPr/>
            <p:nvPr/>
          </p:nvSpPr>
          <p:spPr>
            <a:xfrm>
              <a:off x="0" y="0"/>
              <a:ext cx="404876" cy="398272"/>
            </a:xfrm>
            <a:custGeom>
              <a:avLst/>
              <a:gdLst/>
              <a:ahLst/>
              <a:cxnLst/>
              <a:rect l="l" t="t" r="r" b="b"/>
              <a:pathLst>
                <a:path w="404876" h="398272">
                  <a:moveTo>
                    <a:pt x="0" y="0"/>
                  </a:moveTo>
                  <a:lnTo>
                    <a:pt x="404876" y="0"/>
                  </a:lnTo>
                  <a:lnTo>
                    <a:pt x="404876" y="398272"/>
                  </a:lnTo>
                  <a:lnTo>
                    <a:pt x="0" y="39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1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6542837" y="3536423"/>
            <a:ext cx="303647" cy="298666"/>
            <a:chOff x="0" y="0"/>
            <a:chExt cx="404863" cy="398221"/>
          </a:xfrm>
        </p:grpSpPr>
        <p:sp>
          <p:nvSpPr>
            <p:cNvPr id="24" name="Freeform 24" descr="Check Mark Box Green - Free vector graphic on Pixabay"/>
            <p:cNvSpPr/>
            <p:nvPr/>
          </p:nvSpPr>
          <p:spPr>
            <a:xfrm>
              <a:off x="0" y="0"/>
              <a:ext cx="404876" cy="398272"/>
            </a:xfrm>
            <a:custGeom>
              <a:avLst/>
              <a:gdLst/>
              <a:ahLst/>
              <a:cxnLst/>
              <a:rect l="l" t="t" r="r" b="b"/>
              <a:pathLst>
                <a:path w="404876" h="398272">
                  <a:moveTo>
                    <a:pt x="0" y="0"/>
                  </a:moveTo>
                  <a:lnTo>
                    <a:pt x="404876" y="0"/>
                  </a:lnTo>
                  <a:lnTo>
                    <a:pt x="404876" y="398272"/>
                  </a:lnTo>
                  <a:lnTo>
                    <a:pt x="0" y="39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1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6541084" y="3983088"/>
            <a:ext cx="305391" cy="305391"/>
            <a:chOff x="0" y="0"/>
            <a:chExt cx="407187" cy="407187"/>
          </a:xfrm>
        </p:grpSpPr>
        <p:sp>
          <p:nvSpPr>
            <p:cNvPr id="26" name="Freeform 26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6542837" y="4388434"/>
            <a:ext cx="305391" cy="305391"/>
            <a:chOff x="0" y="0"/>
            <a:chExt cx="407187" cy="407187"/>
          </a:xfrm>
        </p:grpSpPr>
        <p:sp>
          <p:nvSpPr>
            <p:cNvPr id="28" name="Freeform 28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53915" y="3124943"/>
            <a:ext cx="303647" cy="298666"/>
            <a:chOff x="0" y="0"/>
            <a:chExt cx="404863" cy="398221"/>
          </a:xfrm>
        </p:grpSpPr>
        <p:sp>
          <p:nvSpPr>
            <p:cNvPr id="30" name="Freeform 30" descr="Check Mark Box Green - Free vector graphic on Pixabay"/>
            <p:cNvSpPr/>
            <p:nvPr/>
          </p:nvSpPr>
          <p:spPr>
            <a:xfrm>
              <a:off x="0" y="0"/>
              <a:ext cx="404876" cy="398272"/>
            </a:xfrm>
            <a:custGeom>
              <a:avLst/>
              <a:gdLst/>
              <a:ahLst/>
              <a:cxnLst/>
              <a:rect l="l" t="t" r="r" b="b"/>
              <a:pathLst>
                <a:path w="404876" h="398272">
                  <a:moveTo>
                    <a:pt x="0" y="0"/>
                  </a:moveTo>
                  <a:lnTo>
                    <a:pt x="404876" y="0"/>
                  </a:lnTo>
                  <a:lnTo>
                    <a:pt x="404876" y="398272"/>
                  </a:lnTo>
                  <a:lnTo>
                    <a:pt x="0" y="39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12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2353915" y="3536423"/>
            <a:ext cx="303647" cy="298666"/>
            <a:chOff x="0" y="0"/>
            <a:chExt cx="404863" cy="398221"/>
          </a:xfrm>
        </p:grpSpPr>
        <p:sp>
          <p:nvSpPr>
            <p:cNvPr id="32" name="Freeform 32" descr="Check Mark Box Green - Free vector graphic on Pixabay"/>
            <p:cNvSpPr/>
            <p:nvPr/>
          </p:nvSpPr>
          <p:spPr>
            <a:xfrm>
              <a:off x="0" y="0"/>
              <a:ext cx="404876" cy="398272"/>
            </a:xfrm>
            <a:custGeom>
              <a:avLst/>
              <a:gdLst/>
              <a:ahLst/>
              <a:cxnLst/>
              <a:rect l="l" t="t" r="r" b="b"/>
              <a:pathLst>
                <a:path w="404876" h="398272">
                  <a:moveTo>
                    <a:pt x="0" y="0"/>
                  </a:moveTo>
                  <a:lnTo>
                    <a:pt x="404876" y="0"/>
                  </a:lnTo>
                  <a:lnTo>
                    <a:pt x="404876" y="398272"/>
                  </a:lnTo>
                  <a:lnTo>
                    <a:pt x="0" y="39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12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2338361" y="3983088"/>
            <a:ext cx="305391" cy="305391"/>
            <a:chOff x="0" y="0"/>
            <a:chExt cx="407187" cy="407187"/>
          </a:xfrm>
        </p:grpSpPr>
        <p:sp>
          <p:nvSpPr>
            <p:cNvPr id="34" name="Freeform 34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2326169" y="4388434"/>
            <a:ext cx="305391" cy="305391"/>
            <a:chOff x="0" y="0"/>
            <a:chExt cx="407187" cy="407187"/>
          </a:xfrm>
        </p:grpSpPr>
        <p:sp>
          <p:nvSpPr>
            <p:cNvPr id="36" name="Freeform 36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2338361" y="4741193"/>
            <a:ext cx="305391" cy="305391"/>
            <a:chOff x="0" y="0"/>
            <a:chExt cx="407187" cy="407187"/>
          </a:xfrm>
        </p:grpSpPr>
        <p:sp>
          <p:nvSpPr>
            <p:cNvPr id="38" name="Freeform 38" descr="Minus computer button vector image | Free SVG"/>
            <p:cNvSpPr/>
            <p:nvPr/>
          </p:nvSpPr>
          <p:spPr>
            <a:xfrm>
              <a:off x="0" y="0"/>
              <a:ext cx="407162" cy="407162"/>
            </a:xfrm>
            <a:custGeom>
              <a:avLst/>
              <a:gdLst/>
              <a:ahLst/>
              <a:cxnLst/>
              <a:rect l="l" t="t" r="r" b="b"/>
              <a:pathLst>
                <a:path w="407162" h="407162">
                  <a:moveTo>
                    <a:pt x="0" y="0"/>
                  </a:moveTo>
                  <a:lnTo>
                    <a:pt x="407162" y="0"/>
                  </a:lnTo>
                  <a:lnTo>
                    <a:pt x="407162" y="407162"/>
                  </a:lnTo>
                  <a:lnTo>
                    <a:pt x="0" y="407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-449018" y="5349716"/>
            <a:ext cx="6725231" cy="4403427"/>
            <a:chOff x="0" y="0"/>
            <a:chExt cx="8966975" cy="5871235"/>
          </a:xfrm>
        </p:grpSpPr>
        <p:sp>
          <p:nvSpPr>
            <p:cNvPr id="40" name="Freeform 40" descr="https://static.tildacdn.com/tild3935-6430-4737-a461-303238643331/_2.png"/>
            <p:cNvSpPr/>
            <p:nvPr/>
          </p:nvSpPr>
          <p:spPr>
            <a:xfrm>
              <a:off x="0" y="0"/>
              <a:ext cx="8966962" cy="5871210"/>
            </a:xfrm>
            <a:custGeom>
              <a:avLst/>
              <a:gdLst/>
              <a:ahLst/>
              <a:cxnLst/>
              <a:rect l="l" t="t" r="r" b="b"/>
              <a:pathLst>
                <a:path w="8966962" h="5871210">
                  <a:moveTo>
                    <a:pt x="0" y="0"/>
                  </a:moveTo>
                  <a:lnTo>
                    <a:pt x="8966962" y="0"/>
                  </a:lnTo>
                  <a:lnTo>
                    <a:pt x="8966962" y="5871210"/>
                  </a:lnTo>
                  <a:lnTo>
                    <a:pt x="0" y="587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6060186" y="5628446"/>
            <a:ext cx="6265983" cy="3571418"/>
            <a:chOff x="0" y="0"/>
            <a:chExt cx="8354644" cy="476189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354695" cy="4761865"/>
            </a:xfrm>
            <a:custGeom>
              <a:avLst/>
              <a:gdLst/>
              <a:ahLst/>
              <a:cxnLst/>
              <a:rect l="l" t="t" r="r" b="b"/>
              <a:pathLst>
                <a:path w="8354695" h="4761865">
                  <a:moveTo>
                    <a:pt x="0" y="0"/>
                  </a:moveTo>
                  <a:lnTo>
                    <a:pt x="8354695" y="0"/>
                  </a:lnTo>
                  <a:lnTo>
                    <a:pt x="8354695" y="4761865"/>
                  </a:lnTo>
                  <a:lnTo>
                    <a:pt x="0" y="476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2785417" y="5628446"/>
            <a:ext cx="4818088" cy="3360001"/>
            <a:chOff x="0" y="0"/>
            <a:chExt cx="6424117" cy="4480001"/>
          </a:xfrm>
        </p:grpSpPr>
        <p:sp>
          <p:nvSpPr>
            <p:cNvPr id="44" name="Freeform 44" descr="https://starterapp.ru/framerusercontent/images/QJO9Z6z1gDBMdjhZKDlG0V0Fqh4.png?width=3843&amp;height=2680"/>
            <p:cNvSpPr/>
            <p:nvPr/>
          </p:nvSpPr>
          <p:spPr>
            <a:xfrm>
              <a:off x="0" y="0"/>
              <a:ext cx="6424168" cy="4480052"/>
            </a:xfrm>
            <a:custGeom>
              <a:avLst/>
              <a:gdLst/>
              <a:ahLst/>
              <a:cxnLst/>
              <a:rect l="l" t="t" r="r" b="b"/>
              <a:pathLst>
                <a:path w="6424168" h="4480052">
                  <a:moveTo>
                    <a:pt x="0" y="0"/>
                  </a:moveTo>
                  <a:lnTo>
                    <a:pt x="6424168" y="0"/>
                  </a:lnTo>
                  <a:lnTo>
                    <a:pt x="6424168" y="4480052"/>
                  </a:lnTo>
                  <a:lnTo>
                    <a:pt x="0" y="4480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29866"/>
            <a:ext cx="9744227" cy="62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Архитектура и технологический стек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49363" y="1667913"/>
            <a:ext cx="8195520" cy="6507804"/>
            <a:chOff x="0" y="0"/>
            <a:chExt cx="10927359" cy="86770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27334" cy="8677021"/>
            </a:xfrm>
            <a:custGeom>
              <a:avLst/>
              <a:gdLst/>
              <a:ahLst/>
              <a:cxnLst/>
              <a:rect l="l" t="t" r="r" b="b"/>
              <a:pathLst>
                <a:path w="10927334" h="8677021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0736834" y="0"/>
                  </a:lnTo>
                  <a:cubicBezTo>
                    <a:pt x="10842117" y="0"/>
                    <a:pt x="10927334" y="85344"/>
                    <a:pt x="10927334" y="190500"/>
                  </a:cubicBezTo>
                  <a:lnTo>
                    <a:pt x="10927334" y="8486521"/>
                  </a:lnTo>
                  <a:cubicBezTo>
                    <a:pt x="10927334" y="8591803"/>
                    <a:pt x="10841990" y="8677021"/>
                    <a:pt x="10736834" y="8677021"/>
                  </a:cubicBezTo>
                  <a:lnTo>
                    <a:pt x="190500" y="8677021"/>
                  </a:lnTo>
                  <a:cubicBezTo>
                    <a:pt x="85217" y="8677021"/>
                    <a:pt x="0" y="8591677"/>
                    <a:pt x="0" y="8486521"/>
                  </a:cubicBezTo>
                  <a:close/>
                </a:path>
              </a:pathLst>
            </a:custGeom>
            <a:solidFill>
              <a:srgbClr val="3D3D42">
                <a:alpha val="9019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47750" y="1797253"/>
            <a:ext cx="5847159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 err="1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Клиентская</a:t>
            </a:r>
            <a:r>
              <a:rPr lang="en-US" sz="200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часть</a:t>
            </a:r>
            <a:r>
              <a:rPr lang="en-US" sz="200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(Android‑</a:t>
            </a:r>
            <a:r>
              <a:rPr lang="en-US" sz="2000" err="1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приложение</a:t>
            </a:r>
            <a:r>
              <a:rPr lang="en-US" sz="200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)</a:t>
            </a:r>
            <a:endParaRPr lang="en-US" sz="2000"/>
          </a:p>
        </p:txBody>
      </p:sp>
      <p:grpSp>
        <p:nvGrpSpPr>
          <p:cNvPr id="13" name="Group 13"/>
          <p:cNvGrpSpPr/>
          <p:nvPr/>
        </p:nvGrpSpPr>
        <p:grpSpPr>
          <a:xfrm>
            <a:off x="1047750" y="2581570"/>
            <a:ext cx="7798746" cy="28575"/>
            <a:chOff x="0" y="0"/>
            <a:chExt cx="10398328" cy="381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398379" cy="38100"/>
            </a:xfrm>
            <a:custGeom>
              <a:avLst/>
              <a:gdLst/>
              <a:ahLst/>
              <a:cxnLst/>
              <a:rect l="l" t="t" r="r" b="b"/>
              <a:pathLst>
                <a:path w="10398379" h="38100">
                  <a:moveTo>
                    <a:pt x="0" y="0"/>
                  </a:moveTo>
                  <a:lnTo>
                    <a:pt x="10398379" y="0"/>
                  </a:lnTo>
                  <a:lnTo>
                    <a:pt x="10398379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15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47750" y="2728312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 err="1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Kotlin</a:t>
            </a:r>
            <a:endParaRPr lang="en-US" sz="2000"/>
          </a:p>
        </p:txBody>
      </p:sp>
      <p:sp>
        <p:nvSpPr>
          <p:cNvPr id="16" name="TextBox 16"/>
          <p:cNvSpPr txBox="1"/>
          <p:nvPr/>
        </p:nvSpPr>
        <p:spPr>
          <a:xfrm>
            <a:off x="1047750" y="3158138"/>
            <a:ext cx="779874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Основной язык разработки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47750" y="4013302"/>
            <a:ext cx="7798746" cy="28575"/>
            <a:chOff x="0" y="0"/>
            <a:chExt cx="10398328" cy="381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398379" cy="38100"/>
            </a:xfrm>
            <a:custGeom>
              <a:avLst/>
              <a:gdLst/>
              <a:ahLst/>
              <a:cxnLst/>
              <a:rect l="l" t="t" r="r" b="b"/>
              <a:pathLst>
                <a:path w="10398379" h="38100">
                  <a:moveTo>
                    <a:pt x="0" y="0"/>
                  </a:moveTo>
                  <a:lnTo>
                    <a:pt x="10398379" y="0"/>
                  </a:lnTo>
                  <a:lnTo>
                    <a:pt x="10398379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1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47750" y="4199630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Jetpack Compose</a:t>
            </a:r>
            <a:endParaRPr lang="en-US" sz="2000"/>
          </a:p>
        </p:txBody>
      </p:sp>
      <p:sp>
        <p:nvSpPr>
          <p:cNvPr id="23" name="TextBox 23"/>
          <p:cNvSpPr txBox="1"/>
          <p:nvPr/>
        </p:nvSpPr>
        <p:spPr>
          <a:xfrm>
            <a:off x="1047750" y="4629445"/>
            <a:ext cx="7798746" cy="2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Современный</a:t>
            </a:r>
            <a:r>
              <a:rPr lang="en-US" sz="160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UI-</a:t>
            </a:r>
            <a:r>
              <a:rPr lang="en-US" sz="160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фреймворк</a:t>
            </a:r>
            <a:endParaRPr lang="en-US" sz="1600"/>
          </a:p>
        </p:txBody>
      </p:sp>
      <p:grpSp>
        <p:nvGrpSpPr>
          <p:cNvPr id="27" name="Group 27"/>
          <p:cNvGrpSpPr/>
          <p:nvPr/>
        </p:nvGrpSpPr>
        <p:grpSpPr>
          <a:xfrm>
            <a:off x="1047750" y="5445023"/>
            <a:ext cx="7798746" cy="28575"/>
            <a:chOff x="0" y="0"/>
            <a:chExt cx="10398328" cy="3810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0398379" cy="38100"/>
            </a:xfrm>
            <a:custGeom>
              <a:avLst/>
              <a:gdLst/>
              <a:ahLst/>
              <a:cxnLst/>
              <a:rect l="l" t="t" r="r" b="b"/>
              <a:pathLst>
                <a:path w="10398379" h="38100">
                  <a:moveTo>
                    <a:pt x="0" y="0"/>
                  </a:moveTo>
                  <a:lnTo>
                    <a:pt x="10398379" y="0"/>
                  </a:lnTo>
                  <a:lnTo>
                    <a:pt x="10398379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15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047750" y="5670947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Android Studio</a:t>
            </a:r>
            <a:endParaRPr lang="en-US" sz="2000"/>
          </a:p>
        </p:txBody>
      </p:sp>
      <p:sp>
        <p:nvSpPr>
          <p:cNvPr id="30" name="TextBox 30"/>
          <p:cNvSpPr txBox="1"/>
          <p:nvPr/>
        </p:nvSpPr>
        <p:spPr>
          <a:xfrm>
            <a:off x="1047750" y="6100763"/>
            <a:ext cx="779874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Среда разработки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7750" y="6876755"/>
            <a:ext cx="7798746" cy="28575"/>
            <a:chOff x="0" y="0"/>
            <a:chExt cx="10398328" cy="38100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10398379" cy="38100"/>
            </a:xfrm>
            <a:custGeom>
              <a:avLst/>
              <a:gdLst/>
              <a:ahLst/>
              <a:cxnLst/>
              <a:rect l="l" t="t" r="r" b="b"/>
              <a:pathLst>
                <a:path w="10398379" h="38100">
                  <a:moveTo>
                    <a:pt x="0" y="0"/>
                  </a:moveTo>
                  <a:lnTo>
                    <a:pt x="10398379" y="0"/>
                  </a:lnTo>
                  <a:lnTo>
                    <a:pt x="10398379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15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1047750" y="7142264"/>
            <a:ext cx="2480815" cy="31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Сетевой клиент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7750" y="7572080"/>
            <a:ext cx="7798746" cy="2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HTTP + JSON</a:t>
            </a:r>
            <a:endParaRPr lang="en-US" sz="1600"/>
          </a:p>
        </p:txBody>
      </p:sp>
      <p:sp>
        <p:nvSpPr>
          <p:cNvPr id="38" name="TextBox 38"/>
          <p:cNvSpPr txBox="1"/>
          <p:nvPr/>
        </p:nvSpPr>
        <p:spPr>
          <a:xfrm>
            <a:off x="9395517" y="1797253"/>
            <a:ext cx="4218680" cy="31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Серверная часть (Backend)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95517" y="2581570"/>
            <a:ext cx="7909770" cy="28575"/>
            <a:chOff x="0" y="0"/>
            <a:chExt cx="10546359" cy="38100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10546334" cy="38100"/>
            </a:xfrm>
            <a:custGeom>
              <a:avLst/>
              <a:gdLst/>
              <a:ahLst/>
              <a:cxnLst/>
              <a:rect l="l" t="t" r="r" b="b"/>
              <a:pathLst>
                <a:path w="10546334" h="38100">
                  <a:moveTo>
                    <a:pt x="0" y="0"/>
                  </a:moveTo>
                  <a:lnTo>
                    <a:pt x="10546334" y="0"/>
                  </a:lnTo>
                  <a:lnTo>
                    <a:pt x="10546334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" b="-42"/>
              </a:stretch>
            </a:blipFill>
          </p:spPr>
        </p:sp>
      </p:grpSp>
      <p:sp>
        <p:nvSpPr>
          <p:cNvPr id="44" name="TextBox 44"/>
          <p:cNvSpPr txBox="1"/>
          <p:nvPr/>
        </p:nvSpPr>
        <p:spPr>
          <a:xfrm>
            <a:off x="9395517" y="2728312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 err="1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Kotlin</a:t>
            </a:r>
            <a:r>
              <a:rPr lang="en-US" sz="200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+ </a:t>
            </a:r>
            <a:r>
              <a:rPr lang="en-US" sz="2000" err="1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Ktor</a:t>
            </a:r>
            <a:endParaRPr lang="en-US" sz="2000"/>
          </a:p>
        </p:txBody>
      </p:sp>
      <p:sp>
        <p:nvSpPr>
          <p:cNvPr id="45" name="TextBox 45"/>
          <p:cNvSpPr txBox="1"/>
          <p:nvPr/>
        </p:nvSpPr>
        <p:spPr>
          <a:xfrm>
            <a:off x="9395517" y="3158138"/>
            <a:ext cx="7909770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Серверный фреймворк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395517" y="4033095"/>
            <a:ext cx="7909770" cy="28575"/>
            <a:chOff x="0" y="0"/>
            <a:chExt cx="10546359" cy="38100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10546334" cy="38100"/>
            </a:xfrm>
            <a:custGeom>
              <a:avLst/>
              <a:gdLst/>
              <a:ahLst/>
              <a:cxnLst/>
              <a:rect l="l" t="t" r="r" b="b"/>
              <a:pathLst>
                <a:path w="10546334" h="38100">
                  <a:moveTo>
                    <a:pt x="0" y="0"/>
                  </a:moveTo>
                  <a:lnTo>
                    <a:pt x="10546334" y="0"/>
                  </a:lnTo>
                  <a:lnTo>
                    <a:pt x="10546334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" b="-42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9395517" y="4199630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PostgreSQL</a:t>
            </a:r>
            <a:endParaRPr lang="en-US" sz="2000"/>
          </a:p>
        </p:txBody>
      </p:sp>
      <p:sp>
        <p:nvSpPr>
          <p:cNvPr id="52" name="TextBox 52"/>
          <p:cNvSpPr txBox="1"/>
          <p:nvPr/>
        </p:nvSpPr>
        <p:spPr>
          <a:xfrm>
            <a:off x="9395517" y="4629445"/>
            <a:ext cx="7909770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Реляционная база данных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9395517" y="5484609"/>
            <a:ext cx="7909770" cy="28575"/>
            <a:chOff x="0" y="0"/>
            <a:chExt cx="10546359" cy="38100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10546334" cy="38100"/>
            </a:xfrm>
            <a:custGeom>
              <a:avLst/>
              <a:gdLst/>
              <a:ahLst/>
              <a:cxnLst/>
              <a:rect l="l" t="t" r="r" b="b"/>
              <a:pathLst>
                <a:path w="10546334" h="38100">
                  <a:moveTo>
                    <a:pt x="0" y="0"/>
                  </a:moveTo>
                  <a:lnTo>
                    <a:pt x="10546334" y="0"/>
                  </a:lnTo>
                  <a:lnTo>
                    <a:pt x="10546334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" b="-42"/>
              </a:stretch>
            </a:blipFill>
          </p:spPr>
        </p:sp>
      </p:grpSp>
      <p:sp>
        <p:nvSpPr>
          <p:cNvPr id="58" name="TextBox 58"/>
          <p:cNvSpPr txBox="1"/>
          <p:nvPr/>
        </p:nvSpPr>
        <p:spPr>
          <a:xfrm>
            <a:off x="9395517" y="5670947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JWT + </a:t>
            </a:r>
            <a:r>
              <a:rPr lang="en-US" sz="2000" err="1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bcrypt</a:t>
            </a:r>
            <a:endParaRPr lang="en-US" sz="2000"/>
          </a:p>
        </p:txBody>
      </p:sp>
      <p:sp>
        <p:nvSpPr>
          <p:cNvPr id="59" name="TextBox 59"/>
          <p:cNvSpPr txBox="1"/>
          <p:nvPr/>
        </p:nvSpPr>
        <p:spPr>
          <a:xfrm>
            <a:off x="9395517" y="6100763"/>
            <a:ext cx="7909770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Аутентификация и безопасность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9395517" y="6936134"/>
            <a:ext cx="7909770" cy="28575"/>
            <a:chOff x="0" y="0"/>
            <a:chExt cx="10546359" cy="38100"/>
          </a:xfrm>
        </p:grpSpPr>
        <p:sp>
          <p:nvSpPr>
            <p:cNvPr id="64" name="Freeform 64" descr="preencoded.png"/>
            <p:cNvSpPr/>
            <p:nvPr/>
          </p:nvSpPr>
          <p:spPr>
            <a:xfrm>
              <a:off x="0" y="0"/>
              <a:ext cx="10546334" cy="38100"/>
            </a:xfrm>
            <a:custGeom>
              <a:avLst/>
              <a:gdLst/>
              <a:ahLst/>
              <a:cxnLst/>
              <a:rect l="l" t="t" r="r" b="b"/>
              <a:pathLst>
                <a:path w="10546334" h="38100">
                  <a:moveTo>
                    <a:pt x="0" y="0"/>
                  </a:moveTo>
                  <a:lnTo>
                    <a:pt x="10546334" y="0"/>
                  </a:lnTo>
                  <a:lnTo>
                    <a:pt x="10546334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" b="-42"/>
              </a:stretch>
            </a:blipFill>
          </p:spPr>
        </p:sp>
      </p:grpSp>
      <p:sp>
        <p:nvSpPr>
          <p:cNvPr id="65" name="TextBox 65"/>
          <p:cNvSpPr txBox="1"/>
          <p:nvPr/>
        </p:nvSpPr>
        <p:spPr>
          <a:xfrm>
            <a:off x="9395517" y="7142264"/>
            <a:ext cx="2480815" cy="32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IntelliJ IDEA</a:t>
            </a:r>
            <a:endParaRPr lang="en-US" sz="2000"/>
          </a:p>
        </p:txBody>
      </p:sp>
      <p:sp>
        <p:nvSpPr>
          <p:cNvPr id="66" name="TextBox 66"/>
          <p:cNvSpPr txBox="1"/>
          <p:nvPr/>
        </p:nvSpPr>
        <p:spPr>
          <a:xfrm>
            <a:off x="9395517" y="7572080"/>
            <a:ext cx="7909770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Среда разработки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685800" y="8548432"/>
            <a:ext cx="3843271" cy="970759"/>
            <a:chOff x="0" y="0"/>
            <a:chExt cx="4100512" cy="1058469"/>
          </a:xfrm>
        </p:grpSpPr>
        <p:sp>
          <p:nvSpPr>
            <p:cNvPr id="68" name="Freeform 68" descr="preencoded.png"/>
            <p:cNvSpPr/>
            <p:nvPr/>
          </p:nvSpPr>
          <p:spPr>
            <a:xfrm>
              <a:off x="0" y="0"/>
              <a:ext cx="4100449" cy="1058418"/>
            </a:xfrm>
            <a:custGeom>
              <a:avLst/>
              <a:gdLst/>
              <a:ahLst/>
              <a:cxnLst/>
              <a:rect l="l" t="t" r="r" b="b"/>
              <a:pathLst>
                <a:path w="4100449" h="1058418">
                  <a:moveTo>
                    <a:pt x="0" y="0"/>
                  </a:moveTo>
                  <a:lnTo>
                    <a:pt x="4100449" y="0"/>
                  </a:lnTo>
                  <a:lnTo>
                    <a:pt x="4100449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6" r="-227" b="-4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4687641" y="8436118"/>
            <a:ext cx="2923728" cy="1195339"/>
            <a:chOff x="0" y="0"/>
            <a:chExt cx="2200669" cy="1058469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2200656" cy="1058418"/>
            </a:xfrm>
            <a:custGeom>
              <a:avLst/>
              <a:gdLst/>
              <a:ahLst/>
              <a:cxnLst/>
              <a:rect l="l" t="t" r="r" b="b"/>
              <a:pathLst>
                <a:path w="2200656" h="1058418">
                  <a:moveTo>
                    <a:pt x="0" y="0"/>
                  </a:moveTo>
                  <a:lnTo>
                    <a:pt x="2200656" y="0"/>
                  </a:lnTo>
                  <a:lnTo>
                    <a:pt x="2200656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5" r="-126" b="-4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7928408" y="8545548"/>
            <a:ext cx="2317699" cy="1066536"/>
            <a:chOff x="0" y="0"/>
            <a:chExt cx="2434831" cy="1058469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2434844" cy="1058418"/>
            </a:xfrm>
            <a:custGeom>
              <a:avLst/>
              <a:gdLst/>
              <a:ahLst/>
              <a:cxnLst/>
              <a:rect l="l" t="t" r="r" b="b"/>
              <a:pathLst>
                <a:path w="2434844" h="1058418">
                  <a:moveTo>
                    <a:pt x="0" y="0"/>
                  </a:moveTo>
                  <a:lnTo>
                    <a:pt x="2434844" y="0"/>
                  </a:lnTo>
                  <a:lnTo>
                    <a:pt x="2434844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80" r="-280" b="-4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0541973" y="8343529"/>
            <a:ext cx="1757020" cy="1408214"/>
            <a:chOff x="0" y="0"/>
            <a:chExt cx="1323188" cy="1058469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1323213" cy="1058418"/>
            </a:xfrm>
            <a:custGeom>
              <a:avLst/>
              <a:gdLst/>
              <a:ahLst/>
              <a:cxnLst/>
              <a:rect l="l" t="t" r="r" b="b"/>
              <a:pathLst>
                <a:path w="1323213" h="1058418">
                  <a:moveTo>
                    <a:pt x="0" y="0"/>
                  </a:moveTo>
                  <a:lnTo>
                    <a:pt x="1323213" y="0"/>
                  </a:lnTo>
                  <a:lnTo>
                    <a:pt x="1323213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17" r="-114" b="-4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2318501" y="8284154"/>
            <a:ext cx="2063782" cy="1589324"/>
            <a:chOff x="0" y="0"/>
            <a:chExt cx="1323188" cy="1058469"/>
          </a:xfrm>
        </p:grpSpPr>
        <p:sp>
          <p:nvSpPr>
            <p:cNvPr id="76" name="Freeform 76" descr="preencoded.png"/>
            <p:cNvSpPr/>
            <p:nvPr/>
          </p:nvSpPr>
          <p:spPr>
            <a:xfrm>
              <a:off x="0" y="0"/>
              <a:ext cx="1323213" cy="1058418"/>
            </a:xfrm>
            <a:custGeom>
              <a:avLst/>
              <a:gdLst/>
              <a:ahLst/>
              <a:cxnLst/>
              <a:rect l="l" t="t" r="r" b="b"/>
              <a:pathLst>
                <a:path w="1323213" h="1058418">
                  <a:moveTo>
                    <a:pt x="0" y="0"/>
                  </a:moveTo>
                  <a:lnTo>
                    <a:pt x="1323213" y="0"/>
                  </a:lnTo>
                  <a:lnTo>
                    <a:pt x="1323213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17" r="-114" b="-4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14782800" y="8264028"/>
            <a:ext cx="1906791" cy="1431782"/>
            <a:chOff x="0" y="0"/>
            <a:chExt cx="1323188" cy="1058469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1323213" cy="1058418"/>
            </a:xfrm>
            <a:custGeom>
              <a:avLst/>
              <a:gdLst/>
              <a:ahLst/>
              <a:cxnLst/>
              <a:rect l="l" t="t" r="r" b="b"/>
              <a:pathLst>
                <a:path w="1323213" h="1058418">
                  <a:moveTo>
                    <a:pt x="0" y="0"/>
                  </a:moveTo>
                  <a:lnTo>
                    <a:pt x="1323213" y="0"/>
                  </a:lnTo>
                  <a:lnTo>
                    <a:pt x="1323213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17" r="-114" b="-4"/>
              </a:stretch>
            </a:blipFill>
          </p:spPr>
        </p:sp>
      </p:grpSp>
      <p:sp>
        <p:nvSpPr>
          <p:cNvPr id="92" name="Text 3"/>
          <p:cNvSpPr/>
          <p:nvPr/>
        </p:nvSpPr>
        <p:spPr>
          <a:xfrm>
            <a:off x="1047748" y="2412650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/>
          </a:p>
        </p:txBody>
      </p:sp>
      <p:sp>
        <p:nvSpPr>
          <p:cNvPr id="93" name="Text 3"/>
          <p:cNvSpPr/>
          <p:nvPr/>
        </p:nvSpPr>
        <p:spPr>
          <a:xfrm>
            <a:off x="1047748" y="3884189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mtClean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/>
          </a:p>
        </p:txBody>
      </p:sp>
      <p:sp>
        <p:nvSpPr>
          <p:cNvPr id="94" name="Text 3"/>
          <p:cNvSpPr/>
          <p:nvPr/>
        </p:nvSpPr>
        <p:spPr>
          <a:xfrm>
            <a:off x="1047748" y="5377851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mtClean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/>
          </a:p>
        </p:txBody>
      </p:sp>
      <p:sp>
        <p:nvSpPr>
          <p:cNvPr id="95" name="Text 3"/>
          <p:cNvSpPr/>
          <p:nvPr/>
        </p:nvSpPr>
        <p:spPr>
          <a:xfrm>
            <a:off x="1047748" y="6849168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mtClean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/>
          </a:p>
        </p:txBody>
      </p:sp>
      <p:sp>
        <p:nvSpPr>
          <p:cNvPr id="96" name="Text 3"/>
          <p:cNvSpPr/>
          <p:nvPr/>
        </p:nvSpPr>
        <p:spPr>
          <a:xfrm>
            <a:off x="9373476" y="2432804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/>
          </a:p>
        </p:txBody>
      </p:sp>
      <p:sp>
        <p:nvSpPr>
          <p:cNvPr id="97" name="Text 3"/>
          <p:cNvSpPr/>
          <p:nvPr/>
        </p:nvSpPr>
        <p:spPr>
          <a:xfrm>
            <a:off x="9373476" y="3904343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mtClean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/>
          </a:p>
        </p:txBody>
      </p:sp>
      <p:sp>
        <p:nvSpPr>
          <p:cNvPr id="98" name="Text 3"/>
          <p:cNvSpPr/>
          <p:nvPr/>
        </p:nvSpPr>
        <p:spPr>
          <a:xfrm>
            <a:off x="9373476" y="5398005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mtClean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/>
          </a:p>
        </p:txBody>
      </p:sp>
      <p:sp>
        <p:nvSpPr>
          <p:cNvPr id="99" name="Text 3"/>
          <p:cNvSpPr/>
          <p:nvPr/>
        </p:nvSpPr>
        <p:spPr>
          <a:xfrm>
            <a:off x="9373476" y="6869322"/>
            <a:ext cx="325488" cy="1969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mtClean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52783" y="662730"/>
            <a:ext cx="6695780" cy="51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30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Функциональные требования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10800" y="1965961"/>
            <a:ext cx="7233789" cy="2131276"/>
            <a:chOff x="0" y="0"/>
            <a:chExt cx="7403503" cy="14348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03464" cy="1434846"/>
            </a:xfrm>
            <a:custGeom>
              <a:avLst/>
              <a:gdLst/>
              <a:ahLst/>
              <a:cxnLst/>
              <a:rect l="l" t="t" r="r" b="b"/>
              <a:pathLst>
                <a:path w="7403464" h="1434846">
                  <a:moveTo>
                    <a:pt x="0" y="88646"/>
                  </a:moveTo>
                  <a:cubicBezTo>
                    <a:pt x="0" y="39751"/>
                    <a:pt x="39751" y="0"/>
                    <a:pt x="88646" y="0"/>
                  </a:cubicBezTo>
                  <a:lnTo>
                    <a:pt x="7314819" y="0"/>
                  </a:lnTo>
                  <a:cubicBezTo>
                    <a:pt x="7363840" y="0"/>
                    <a:pt x="7403464" y="39751"/>
                    <a:pt x="7403464" y="88646"/>
                  </a:cubicBezTo>
                  <a:lnTo>
                    <a:pt x="7403464" y="1346200"/>
                  </a:lnTo>
                  <a:cubicBezTo>
                    <a:pt x="7403464" y="1395222"/>
                    <a:pt x="7363713" y="1434846"/>
                    <a:pt x="7314819" y="1434846"/>
                  </a:cubicBezTo>
                  <a:lnTo>
                    <a:pt x="88646" y="1434846"/>
                  </a:lnTo>
                  <a:cubicBezTo>
                    <a:pt x="39751" y="1434846"/>
                    <a:pt x="0" y="1395222"/>
                    <a:pt x="0" y="1346200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731136" y="2813148"/>
            <a:ext cx="533400" cy="419865"/>
            <a:chOff x="0" y="0"/>
            <a:chExt cx="263919" cy="211138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263906" cy="211201"/>
            </a:xfrm>
            <a:custGeom>
              <a:avLst/>
              <a:gdLst/>
              <a:ahLst/>
              <a:cxnLst/>
              <a:rect l="l" t="t" r="r" b="b"/>
              <a:pathLst>
                <a:path w="263906" h="211201">
                  <a:moveTo>
                    <a:pt x="0" y="0"/>
                  </a:moveTo>
                  <a:lnTo>
                    <a:pt x="263906" y="0"/>
                  </a:lnTo>
                  <a:lnTo>
                    <a:pt x="263906" y="211201"/>
                  </a:lnTo>
                  <a:lnTo>
                    <a:pt x="0" y="21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95" r="-4" b="-56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674567" y="2330584"/>
            <a:ext cx="546906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системе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реализовано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ролевое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разграничение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доступа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,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отражающее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реальную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структуру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торгового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предприятия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Каждый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сотрудник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видит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только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те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функции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,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которые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нужны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для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его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работы</a:t>
            </a:r>
            <a:r>
              <a:rPr lang="en-US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10800" y="4191895"/>
            <a:ext cx="7238552" cy="1334986"/>
            <a:chOff x="0" y="0"/>
            <a:chExt cx="7416203" cy="17799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16165" cy="1779905"/>
            </a:xfrm>
            <a:custGeom>
              <a:avLst/>
              <a:gdLst/>
              <a:ahLst/>
              <a:cxnLst/>
              <a:rect l="l" t="t" r="r" b="b"/>
              <a:pathLst>
                <a:path w="7416165" h="1779905">
                  <a:moveTo>
                    <a:pt x="0" y="89281"/>
                  </a:moveTo>
                  <a:cubicBezTo>
                    <a:pt x="0" y="40005"/>
                    <a:pt x="40005" y="0"/>
                    <a:pt x="89281" y="0"/>
                  </a:cubicBezTo>
                  <a:lnTo>
                    <a:pt x="7326884" y="0"/>
                  </a:lnTo>
                  <a:cubicBezTo>
                    <a:pt x="7376287" y="0"/>
                    <a:pt x="7416165" y="40005"/>
                    <a:pt x="7416165" y="89281"/>
                  </a:cubicBezTo>
                  <a:lnTo>
                    <a:pt x="7416165" y="1690624"/>
                  </a:lnTo>
                  <a:cubicBezTo>
                    <a:pt x="7416165" y="1740027"/>
                    <a:pt x="7376160" y="1779905"/>
                    <a:pt x="7326884" y="1779905"/>
                  </a:cubicBezTo>
                  <a:lnTo>
                    <a:pt x="89281" y="1779905"/>
                  </a:lnTo>
                  <a:cubicBezTo>
                    <a:pt x="39878" y="1779905"/>
                    <a:pt x="0" y="1739900"/>
                    <a:pt x="0" y="1690624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545900" y="4317550"/>
            <a:ext cx="4246959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Специалист</a:t>
            </a: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по</a:t>
            </a: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закупкам</a:t>
            </a:r>
            <a:endParaRPr lang="en-US" sz="20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744200" y="4640072"/>
            <a:ext cx="5216871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Управлять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ассортиментом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Формировать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заказы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на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поставку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Отслеживать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остатки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на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складе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0210800" y="5605758"/>
            <a:ext cx="7238552" cy="878386"/>
            <a:chOff x="0" y="0"/>
            <a:chExt cx="7416203" cy="11711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16165" cy="1171194"/>
            </a:xfrm>
            <a:custGeom>
              <a:avLst/>
              <a:gdLst/>
              <a:ahLst/>
              <a:cxnLst/>
              <a:rect l="l" t="t" r="r" b="b"/>
              <a:pathLst>
                <a:path w="7416165" h="1171194">
                  <a:moveTo>
                    <a:pt x="0" y="89662"/>
                  </a:moveTo>
                  <a:cubicBezTo>
                    <a:pt x="0" y="40132"/>
                    <a:pt x="40132" y="0"/>
                    <a:pt x="89662" y="0"/>
                  </a:cubicBezTo>
                  <a:lnTo>
                    <a:pt x="7326503" y="0"/>
                  </a:lnTo>
                  <a:cubicBezTo>
                    <a:pt x="7376033" y="0"/>
                    <a:pt x="7416165" y="40132"/>
                    <a:pt x="7416165" y="89662"/>
                  </a:cubicBezTo>
                  <a:lnTo>
                    <a:pt x="7416165" y="1081532"/>
                  </a:lnTo>
                  <a:cubicBezTo>
                    <a:pt x="7416165" y="1131062"/>
                    <a:pt x="7376033" y="1171194"/>
                    <a:pt x="7326503" y="1171194"/>
                  </a:cubicBezTo>
                  <a:lnTo>
                    <a:pt x="89662" y="1171194"/>
                  </a:lnTo>
                  <a:cubicBezTo>
                    <a:pt x="40132" y="1171194"/>
                    <a:pt x="0" y="1131062"/>
                    <a:pt x="0" y="1081532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0545900" y="5706012"/>
            <a:ext cx="58362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Менеджер</a:t>
            </a: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по</a:t>
            </a: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работе</a:t>
            </a: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с </a:t>
            </a: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клиентами</a:t>
            </a:r>
            <a:endParaRPr lang="en-US" sz="20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744200" y="6067363"/>
            <a:ext cx="5216871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Обрабатывать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заказы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клиентов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210800" y="6563020"/>
            <a:ext cx="7238552" cy="1334986"/>
            <a:chOff x="0" y="0"/>
            <a:chExt cx="7416203" cy="17799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416165" cy="1779905"/>
            </a:xfrm>
            <a:custGeom>
              <a:avLst/>
              <a:gdLst/>
              <a:ahLst/>
              <a:cxnLst/>
              <a:rect l="l" t="t" r="r" b="b"/>
              <a:pathLst>
                <a:path w="7416165" h="1779905">
                  <a:moveTo>
                    <a:pt x="0" y="89281"/>
                  </a:moveTo>
                  <a:cubicBezTo>
                    <a:pt x="0" y="40005"/>
                    <a:pt x="40005" y="0"/>
                    <a:pt x="89281" y="0"/>
                  </a:cubicBezTo>
                  <a:lnTo>
                    <a:pt x="7326884" y="0"/>
                  </a:lnTo>
                  <a:cubicBezTo>
                    <a:pt x="7376287" y="0"/>
                    <a:pt x="7416165" y="40005"/>
                    <a:pt x="7416165" y="89281"/>
                  </a:cubicBezTo>
                  <a:lnTo>
                    <a:pt x="7416165" y="1690624"/>
                  </a:lnTo>
                  <a:cubicBezTo>
                    <a:pt x="7416165" y="1740027"/>
                    <a:pt x="7376160" y="1779905"/>
                    <a:pt x="7326884" y="1779905"/>
                  </a:cubicBezTo>
                  <a:lnTo>
                    <a:pt x="89281" y="1779905"/>
                  </a:lnTo>
                  <a:cubicBezTo>
                    <a:pt x="39878" y="1779905"/>
                    <a:pt x="0" y="1739900"/>
                    <a:pt x="0" y="1690624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545900" y="6633294"/>
            <a:ext cx="357890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20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Кладовщик</a:t>
            </a:r>
            <a:endParaRPr lang="en-US" sz="20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4199" y="7018117"/>
            <a:ext cx="5216871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Принимать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поступления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Отгружать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заказы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marL="289560" lvl="1" indent="-144780" algn="l">
              <a:buFont typeface="Arial"/>
              <a:buChar char="•"/>
            </a:pP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Обрабатывать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возвраты</a:t>
            </a:r>
            <a:r>
              <a:rPr lang="en-US" sz="16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и </a:t>
            </a:r>
            <a:r>
              <a:rPr lang="en-US" sz="1600" err="1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списания</a:t>
            </a:r>
            <a:endParaRPr lang="en-US" sz="1600">
              <a:solidFill>
                <a:srgbClr val="CFD0D8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457049" y="1435227"/>
            <a:ext cx="6492631" cy="8350587"/>
            <a:chOff x="0" y="0"/>
            <a:chExt cx="8656841" cy="111341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56828" cy="11134090"/>
            </a:xfrm>
            <a:custGeom>
              <a:avLst/>
              <a:gdLst/>
              <a:ahLst/>
              <a:cxnLst/>
              <a:rect l="l" t="t" r="r" b="b"/>
              <a:pathLst>
                <a:path w="8656828" h="11134090">
                  <a:moveTo>
                    <a:pt x="0" y="0"/>
                  </a:moveTo>
                  <a:lnTo>
                    <a:pt x="8656828" y="0"/>
                  </a:lnTo>
                  <a:lnTo>
                    <a:pt x="8656828" y="11134090"/>
                  </a:lnTo>
                  <a:lnTo>
                    <a:pt x="0" y="1113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7832" y="603609"/>
            <a:ext cx="16177174" cy="81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Клиентская часть: основные экраны приложения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56330" y="1651283"/>
            <a:ext cx="3793074" cy="8218322"/>
            <a:chOff x="0" y="0"/>
            <a:chExt cx="5057432" cy="109577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57394" cy="10957814"/>
            </a:xfrm>
            <a:custGeom>
              <a:avLst/>
              <a:gdLst/>
              <a:ahLst/>
              <a:cxnLst/>
              <a:rect l="l" t="t" r="r" b="b"/>
              <a:pathLst>
                <a:path w="5057394" h="10957814">
                  <a:moveTo>
                    <a:pt x="0" y="0"/>
                  </a:moveTo>
                  <a:lnTo>
                    <a:pt x="5057394" y="0"/>
                  </a:lnTo>
                  <a:lnTo>
                    <a:pt x="5057394" y="10957814"/>
                  </a:lnTo>
                  <a:lnTo>
                    <a:pt x="0" y="10957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076044" y="1651283"/>
            <a:ext cx="3793074" cy="8218322"/>
            <a:chOff x="0" y="0"/>
            <a:chExt cx="5057432" cy="109577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57394" cy="10957814"/>
            </a:xfrm>
            <a:custGeom>
              <a:avLst/>
              <a:gdLst/>
              <a:ahLst/>
              <a:cxnLst/>
              <a:rect l="l" t="t" r="r" b="b"/>
              <a:pathLst>
                <a:path w="5057394" h="10957814">
                  <a:moveTo>
                    <a:pt x="0" y="0"/>
                  </a:moveTo>
                  <a:lnTo>
                    <a:pt x="5057394" y="0"/>
                  </a:lnTo>
                  <a:lnTo>
                    <a:pt x="5057394" y="10957814"/>
                  </a:lnTo>
                  <a:lnTo>
                    <a:pt x="0" y="10957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495749" y="1651283"/>
            <a:ext cx="3793074" cy="8218322"/>
            <a:chOff x="0" y="0"/>
            <a:chExt cx="5057432" cy="109577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57394" cy="10957814"/>
            </a:xfrm>
            <a:custGeom>
              <a:avLst/>
              <a:gdLst/>
              <a:ahLst/>
              <a:cxnLst/>
              <a:rect l="l" t="t" r="r" b="b"/>
              <a:pathLst>
                <a:path w="5057394" h="10957814">
                  <a:moveTo>
                    <a:pt x="0" y="0"/>
                  </a:moveTo>
                  <a:lnTo>
                    <a:pt x="5057394" y="0"/>
                  </a:lnTo>
                  <a:lnTo>
                    <a:pt x="5057394" y="10957814"/>
                  </a:lnTo>
                  <a:lnTo>
                    <a:pt x="0" y="10957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930493" y="1651283"/>
            <a:ext cx="3682117" cy="7977911"/>
            <a:chOff x="0" y="0"/>
            <a:chExt cx="4909490" cy="106372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09439" cy="10637266"/>
            </a:xfrm>
            <a:custGeom>
              <a:avLst/>
              <a:gdLst/>
              <a:ahLst/>
              <a:cxnLst/>
              <a:rect l="l" t="t" r="r" b="b"/>
              <a:pathLst>
                <a:path w="4909439" h="10637266">
                  <a:moveTo>
                    <a:pt x="0" y="0"/>
                  </a:moveTo>
                  <a:lnTo>
                    <a:pt x="4909439" y="0"/>
                  </a:lnTo>
                  <a:lnTo>
                    <a:pt x="4909439" y="10637266"/>
                  </a:lnTo>
                  <a:lnTo>
                    <a:pt x="0" y="10637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1282" y="836266"/>
            <a:ext cx="12870656" cy="705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Серверная часть и результаты тестирования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282" y="1948463"/>
            <a:ext cx="4556369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Основные модули сервера: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5362" y="2483348"/>
            <a:ext cx="4211688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Аутентификация и регистрация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75362" y="2977906"/>
            <a:ext cx="7200605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bcrypt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блокировка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после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5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неудач</a:t>
            </a:r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75362" y="3649266"/>
            <a:ext cx="5421506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Управление ассортиментом и остатками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5362" y="4143823"/>
            <a:ext cx="7200605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Партии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сроки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годности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списание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75362" y="4815183"/>
            <a:ext cx="3844681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Обработка заказов клиентов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5362" y="5309740"/>
            <a:ext cx="7200605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Резервирование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отгрузка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история</a:t>
            </a:r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675362" y="5981100"/>
            <a:ext cx="2827144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Заказы поставщикам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5362" y="6475657"/>
            <a:ext cx="7200605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Создание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приёмка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обновление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остатков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675362" y="7147027"/>
            <a:ext cx="2746619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Аналитика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5362" y="7641584"/>
            <a:ext cx="7200605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Продажи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остатки</a:t>
            </a:r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9416806" y="1984029"/>
            <a:ext cx="7924209" cy="7260727"/>
            <a:chOff x="0" y="0"/>
            <a:chExt cx="10565613" cy="96809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65511" cy="9680956"/>
            </a:xfrm>
            <a:custGeom>
              <a:avLst/>
              <a:gdLst/>
              <a:ahLst/>
              <a:cxnLst/>
              <a:rect l="l" t="t" r="r" b="b"/>
              <a:pathLst>
                <a:path w="10565511" h="9680956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10442321" y="0"/>
                  </a:lnTo>
                  <a:cubicBezTo>
                    <a:pt x="10510393" y="0"/>
                    <a:pt x="10565511" y="55118"/>
                    <a:pt x="10565511" y="123190"/>
                  </a:cubicBezTo>
                  <a:lnTo>
                    <a:pt x="10565511" y="9557766"/>
                  </a:lnTo>
                  <a:cubicBezTo>
                    <a:pt x="10565511" y="9625838"/>
                    <a:pt x="10510393" y="9680956"/>
                    <a:pt x="10442321" y="9680956"/>
                  </a:cubicBezTo>
                  <a:lnTo>
                    <a:pt x="123190" y="9680956"/>
                  </a:lnTo>
                  <a:cubicBezTo>
                    <a:pt x="55118" y="9680956"/>
                    <a:pt x="0" y="9625838"/>
                    <a:pt x="0" y="955776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7561" r="-67562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650759" y="2071840"/>
            <a:ext cx="4418114" cy="34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Действие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03338" y="2071840"/>
            <a:ext cx="4418114" cy="34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Фактический результат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0759" y="2616394"/>
            <a:ext cx="3503714" cy="6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Ввод корректного email и пароля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03338" y="2616394"/>
            <a:ext cx="3503714" cy="6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Сессия установлена и начата под корректной ролью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0759" y="3472758"/>
            <a:ext cx="4418114" cy="34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Ввод неверного пароля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03338" y="3472758"/>
            <a:ext cx="3503714" cy="9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Сообщение об ошибке получено, состояние сессии не изменилось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50759" y="4640904"/>
            <a:ext cx="3503714" cy="6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Вызов подтверждения заказа клиента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03338" y="4640904"/>
            <a:ext cx="3503714" cy="9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Список заказов обновлён, товары списаны со склада и партии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50759" y="5809059"/>
            <a:ext cx="3503714" cy="6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Вызов удаление товара из ассортимента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03338" y="5809059"/>
            <a:ext cx="3503714" cy="9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Удалённый товар не отображается в ассортименте, но остался на складе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50759" y="6977215"/>
            <a:ext cx="3503714" cy="9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Вызов удаления остатков партии товара из-за конца срока годности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03338" y="6977215"/>
            <a:ext cx="3503714" cy="9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Партия удалена, количество остатков товара на складе уменьшилось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50759" y="8145361"/>
            <a:ext cx="4418114" cy="34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Вызов отмены заказа клиента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03338" y="8145361"/>
            <a:ext cx="3503714" cy="9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Товары в заказе возвращены на склад и в партию (если не закончился срок годности)</a:t>
            </a:r>
          </a:p>
        </p:txBody>
      </p:sp>
      <p:grpSp>
        <p:nvGrpSpPr>
          <p:cNvPr id="34" name="Group 34"/>
          <p:cNvGrpSpPr/>
          <p:nvPr/>
        </p:nvGrpSpPr>
        <p:grpSpPr>
          <a:xfrm rot="5400000">
            <a:off x="961282" y="2386927"/>
            <a:ext cx="610191" cy="610191"/>
            <a:chOff x="0" y="0"/>
            <a:chExt cx="813587" cy="813587"/>
          </a:xfrm>
        </p:grpSpPr>
        <p:sp>
          <p:nvSpPr>
            <p:cNvPr id="35" name="Freeform 35" descr="arrow presentation | Free SVG"/>
            <p:cNvSpPr/>
            <p:nvPr/>
          </p:nvSpPr>
          <p:spPr>
            <a:xfrm>
              <a:off x="0" y="0"/>
              <a:ext cx="813562" cy="813562"/>
            </a:xfrm>
            <a:custGeom>
              <a:avLst/>
              <a:gdLst/>
              <a:ahLst/>
              <a:cxnLst/>
              <a:rect l="l" t="t" r="r" b="b"/>
              <a:pathLst>
                <a:path w="813562" h="813562">
                  <a:moveTo>
                    <a:pt x="0" y="0"/>
                  </a:moveTo>
                  <a:lnTo>
                    <a:pt x="813562" y="0"/>
                  </a:lnTo>
                  <a:lnTo>
                    <a:pt x="813562" y="813562"/>
                  </a:lnTo>
                  <a:lnTo>
                    <a:pt x="0" y="813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 rot="5400000">
            <a:off x="950576" y="3489408"/>
            <a:ext cx="610191" cy="610191"/>
            <a:chOff x="0" y="0"/>
            <a:chExt cx="813587" cy="813587"/>
          </a:xfrm>
        </p:grpSpPr>
        <p:sp>
          <p:nvSpPr>
            <p:cNvPr id="37" name="Freeform 37" descr="arrow presentation | Free SVG"/>
            <p:cNvSpPr/>
            <p:nvPr/>
          </p:nvSpPr>
          <p:spPr>
            <a:xfrm>
              <a:off x="0" y="0"/>
              <a:ext cx="813562" cy="813562"/>
            </a:xfrm>
            <a:custGeom>
              <a:avLst/>
              <a:gdLst/>
              <a:ahLst/>
              <a:cxnLst/>
              <a:rect l="l" t="t" r="r" b="b"/>
              <a:pathLst>
                <a:path w="813562" h="813562">
                  <a:moveTo>
                    <a:pt x="0" y="0"/>
                  </a:moveTo>
                  <a:lnTo>
                    <a:pt x="813562" y="0"/>
                  </a:lnTo>
                  <a:lnTo>
                    <a:pt x="813562" y="813562"/>
                  </a:lnTo>
                  <a:lnTo>
                    <a:pt x="0" y="813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 rot="5400000">
            <a:off x="961282" y="5866733"/>
            <a:ext cx="610191" cy="610191"/>
            <a:chOff x="0" y="0"/>
            <a:chExt cx="813587" cy="813587"/>
          </a:xfrm>
        </p:grpSpPr>
        <p:sp>
          <p:nvSpPr>
            <p:cNvPr id="39" name="Freeform 39" descr="arrow presentation | Free SVG"/>
            <p:cNvSpPr/>
            <p:nvPr/>
          </p:nvSpPr>
          <p:spPr>
            <a:xfrm>
              <a:off x="0" y="0"/>
              <a:ext cx="813562" cy="813562"/>
            </a:xfrm>
            <a:custGeom>
              <a:avLst/>
              <a:gdLst/>
              <a:ahLst/>
              <a:cxnLst/>
              <a:rect l="l" t="t" r="r" b="b"/>
              <a:pathLst>
                <a:path w="813562" h="813562">
                  <a:moveTo>
                    <a:pt x="0" y="0"/>
                  </a:moveTo>
                  <a:lnTo>
                    <a:pt x="813562" y="0"/>
                  </a:lnTo>
                  <a:lnTo>
                    <a:pt x="813562" y="813562"/>
                  </a:lnTo>
                  <a:lnTo>
                    <a:pt x="0" y="813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 rot="5400000">
            <a:off x="950576" y="4692406"/>
            <a:ext cx="610191" cy="610191"/>
            <a:chOff x="0" y="0"/>
            <a:chExt cx="813587" cy="813587"/>
          </a:xfrm>
        </p:grpSpPr>
        <p:sp>
          <p:nvSpPr>
            <p:cNvPr id="41" name="Freeform 41" descr="arrow presentation | Free SVG"/>
            <p:cNvSpPr/>
            <p:nvPr/>
          </p:nvSpPr>
          <p:spPr>
            <a:xfrm>
              <a:off x="0" y="0"/>
              <a:ext cx="813562" cy="813562"/>
            </a:xfrm>
            <a:custGeom>
              <a:avLst/>
              <a:gdLst/>
              <a:ahLst/>
              <a:cxnLst/>
              <a:rect l="l" t="t" r="r" b="b"/>
              <a:pathLst>
                <a:path w="813562" h="813562">
                  <a:moveTo>
                    <a:pt x="0" y="0"/>
                  </a:moveTo>
                  <a:lnTo>
                    <a:pt x="813562" y="0"/>
                  </a:lnTo>
                  <a:lnTo>
                    <a:pt x="813562" y="813562"/>
                  </a:lnTo>
                  <a:lnTo>
                    <a:pt x="0" y="813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 rot="5400000">
            <a:off x="921401" y="7015315"/>
            <a:ext cx="610191" cy="610191"/>
            <a:chOff x="0" y="0"/>
            <a:chExt cx="813587" cy="813587"/>
          </a:xfrm>
        </p:grpSpPr>
        <p:sp>
          <p:nvSpPr>
            <p:cNvPr id="43" name="Freeform 43" descr="arrow presentation | Free SVG"/>
            <p:cNvSpPr/>
            <p:nvPr/>
          </p:nvSpPr>
          <p:spPr>
            <a:xfrm>
              <a:off x="0" y="0"/>
              <a:ext cx="813562" cy="813562"/>
            </a:xfrm>
            <a:custGeom>
              <a:avLst/>
              <a:gdLst/>
              <a:ahLst/>
              <a:cxnLst/>
              <a:rect l="l" t="t" r="r" b="b"/>
              <a:pathLst>
                <a:path w="813562" h="813562">
                  <a:moveTo>
                    <a:pt x="0" y="0"/>
                  </a:moveTo>
                  <a:lnTo>
                    <a:pt x="813562" y="0"/>
                  </a:lnTo>
                  <a:lnTo>
                    <a:pt x="813562" y="813562"/>
                  </a:lnTo>
                  <a:lnTo>
                    <a:pt x="0" y="813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989705"/>
            <a:ext cx="6585052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err="1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Заключение</a:t>
            </a:r>
            <a:endParaRPr lang="en-US" sz="4400">
              <a:solidFill>
                <a:srgbClr val="CBCCCE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50238" y="1951434"/>
            <a:ext cx="9445523" cy="199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 ходе выполнения работы разработано клиент-серверное мобильное приложение, которое автоматизирует ключевые бизнес-процессы управления продажами, учётом товарных остатков и обработкой заказов. Система поддерживает три ключевые роли, построена на современном технологическом стеке и успешно протестирована. Разработанное решение позволяет сократить ручной труд, снизить потери от просроченной продукции и повысить оперативность управления.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86970" y="4152748"/>
            <a:ext cx="4772616" cy="5125345"/>
            <a:chOff x="0" y="0"/>
            <a:chExt cx="6363487" cy="68337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63589" cy="6833870"/>
            </a:xfrm>
            <a:custGeom>
              <a:avLst/>
              <a:gdLst/>
              <a:ahLst/>
              <a:cxnLst/>
              <a:rect l="l" t="t" r="r" b="b"/>
              <a:pathLst>
                <a:path w="6363589" h="683387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6145784" y="0"/>
                  </a:lnTo>
                  <a:cubicBezTo>
                    <a:pt x="6266053" y="0"/>
                    <a:pt x="6363589" y="97536"/>
                    <a:pt x="6363589" y="217805"/>
                  </a:cubicBezTo>
                  <a:lnTo>
                    <a:pt x="6363589" y="6616065"/>
                  </a:lnTo>
                  <a:cubicBezTo>
                    <a:pt x="6363589" y="6736334"/>
                    <a:pt x="6266053" y="6833870"/>
                    <a:pt x="6145784" y="6833870"/>
                  </a:cubicBezTo>
                  <a:lnTo>
                    <a:pt x="217805" y="6833870"/>
                  </a:lnTo>
                  <a:cubicBezTo>
                    <a:pt x="97536" y="6833743"/>
                    <a:pt x="0" y="6736334"/>
                    <a:pt x="0" y="6616065"/>
                  </a:cubicBezTo>
                  <a:close/>
                </a:path>
              </a:pathLst>
            </a:custGeom>
            <a:solidFill>
              <a:srgbClr val="3D3D42">
                <a:alpha val="90196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913789" y="4315120"/>
            <a:ext cx="37497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err="1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Ресурсы</a:t>
            </a:r>
            <a:endParaRPr lang="en-US" sz="2200">
              <a:solidFill>
                <a:srgbClr val="FFFFFF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13789" y="4831852"/>
            <a:ext cx="4318987" cy="396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Клиентский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код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u="sng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https://github.com/Maf18z1/sales-support-client</a:t>
            </a:r>
            <a:endParaRPr lang="en-US"/>
          </a:p>
          <a:p>
            <a:pPr>
              <a:lnSpc>
                <a:spcPct val="120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Серверный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код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u="sng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https://github.com/Maf18z1/sales-support-server</a:t>
            </a:r>
            <a:endParaRPr lang="en-US"/>
          </a:p>
          <a:p>
            <a:pPr>
              <a:lnSpc>
                <a:spcPct val="120000"/>
              </a:lnSpc>
            </a:pPr>
            <a:r>
              <a:rPr lang="en-US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Презентация</a:t>
            </a:r>
            <a:r>
              <a:rPr lang="en-US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u="sng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https://github.com/Maf18z1/sales-support-presentation</a:t>
            </a: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ru-RU" smtClean="0">
              <a:solidFill>
                <a:srgbClr val="CFD0D8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Демо-видео</a:t>
            </a:r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2859198" y="4315120"/>
            <a:ext cx="37497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Планы развития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854435" y="4887811"/>
            <a:ext cx="519855" cy="519855"/>
            <a:chOff x="0" y="0"/>
            <a:chExt cx="693141" cy="6931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166" cy="693166"/>
            </a:xfrm>
            <a:custGeom>
              <a:avLst/>
              <a:gdLst/>
              <a:ahLst/>
              <a:cxnLst/>
              <a:rect l="l" t="t" r="r" b="b"/>
              <a:pathLst>
                <a:path w="693166" h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3550951" y="4951362"/>
            <a:ext cx="3754336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Расширение аналитики и отчётности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854435" y="6037212"/>
            <a:ext cx="519855" cy="519855"/>
            <a:chOff x="0" y="0"/>
            <a:chExt cx="693141" cy="6931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3166" cy="693166"/>
            </a:xfrm>
            <a:custGeom>
              <a:avLst/>
              <a:gdLst/>
              <a:ahLst/>
              <a:cxnLst/>
              <a:rect l="l" t="t" r="r" b="b"/>
              <a:pathLst>
                <a:path w="693166" h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0951" y="6100762"/>
            <a:ext cx="3754336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Интеграция с внешними сервисами доставки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854435" y="7186612"/>
            <a:ext cx="519855" cy="519855"/>
            <a:chOff x="0" y="0"/>
            <a:chExt cx="693141" cy="6931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3166" cy="693166"/>
            </a:xfrm>
            <a:custGeom>
              <a:avLst/>
              <a:gdLst/>
              <a:ahLst/>
              <a:cxnLst/>
              <a:rect l="l" t="t" r="r" b="b"/>
              <a:pathLst>
                <a:path w="693166" h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3D3D42"/>
            </a:solidFill>
            <a:ln w="9526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3550951" y="7250163"/>
            <a:ext cx="3754336" cy="108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Мобильное приложение для клиентов (iOS/Android)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703" y="7991275"/>
            <a:ext cx="1008775" cy="1008775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314" y="7967882"/>
            <a:ext cx="1069200" cy="1069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41622" y="9013984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smtClean="0">
                <a:solidFill>
                  <a:schemeClr val="bg1"/>
                </a:solidFill>
              </a:rPr>
              <a:t>4 мин (150</a:t>
            </a:r>
            <a:r>
              <a:rPr lang="en-US" sz="1400" smtClean="0">
                <a:solidFill>
                  <a:schemeClr val="bg1"/>
                </a:solidFill>
              </a:rPr>
              <a:t>MB)</a:t>
            </a:r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98178" y="9013984"/>
            <a:ext cx="1255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>
                <a:solidFill>
                  <a:schemeClr val="bg1"/>
                </a:solidFill>
              </a:rPr>
              <a:t>2</a:t>
            </a:r>
            <a:r>
              <a:rPr lang="ru-RU" sz="1400" smtClean="0">
                <a:solidFill>
                  <a:schemeClr val="bg1"/>
                </a:solidFill>
              </a:rPr>
              <a:t> мин</a:t>
            </a:r>
            <a:r>
              <a:rPr lang="en-US" sz="1400" smtClean="0">
                <a:solidFill>
                  <a:schemeClr val="bg1"/>
                </a:solidFill>
              </a:rPr>
              <a:t> (80 MB)</a:t>
            </a:r>
            <a:endParaRPr 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677</Words>
  <Application>Microsoft Office PowerPoint</Application>
  <PresentationFormat>Произвольный</PresentationFormat>
  <Paragraphs>145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Instrument Sans Light</vt:lpstr>
      <vt:lpstr>Instrument Sans Medium</vt:lpstr>
      <vt:lpstr>Instrument Sans SemiBold</vt:lpstr>
      <vt:lpstr>Instrument Serif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Ot-Excel-k-mobilnomu-prilozheniyu-chto-realno-izmenit-upravlenie-prodazhami.pptx</dc:title>
  <dc:creator>Алексей Чекалов</dc:creator>
  <cp:lastModifiedBy>Алексей Чекалов</cp:lastModifiedBy>
  <cp:revision>9</cp:revision>
  <dcterms:created xsi:type="dcterms:W3CDTF">2006-08-16T00:00:00Z</dcterms:created>
  <dcterms:modified xsi:type="dcterms:W3CDTF">2026-06-02T03:53:46Z</dcterms:modified>
  <dc:identifier>DAHLPYX5tBU</dc:identifier>
</cp:coreProperties>
</file>